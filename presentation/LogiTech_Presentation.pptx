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4" r:id="rId6"/>
    <p:sldId id="266" r:id="rId7"/>
    <p:sldId id="267" r:id="rId8"/>
    <p:sldId id="277" r:id="rId9"/>
    <p:sldId id="263" r:id="rId10"/>
    <p:sldId id="261" r:id="rId11"/>
    <p:sldId id="268" r:id="rId12"/>
    <p:sldId id="275" r:id="rId13"/>
    <p:sldId id="264" r:id="rId14"/>
    <p:sldId id="265" r:id="rId15"/>
    <p:sldId id="272" r:id="rId16"/>
    <p:sldId id="269" r:id="rId17"/>
    <p:sldId id="276" r:id="rId18"/>
    <p:sldId id="270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C42"/>
    <a:srgbClr val="FF8C00"/>
    <a:srgbClr val="AFCBFF"/>
    <a:srgbClr val="A9C3DB"/>
    <a:srgbClr val="1F3A5F"/>
    <a:srgbClr val="A9C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4CFD9-5B0A-477C-810D-AA14D62DA04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3AC2F-94DD-4AB9-998D-3058255C8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9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9AF0-E2C6-4213-9E5A-FF2B8C8CDCD4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72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1353-C241-47ED-9738-24A991A5F4C6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60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FE64A-06B6-4B16-8357-D483612F1C78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1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A1E1-0968-4C0B-B056-3CCD0885CA9B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37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F749-E860-4CD2-85C1-6C2F7E1C5489}" type="datetime1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87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6BF4-6A90-4B48-9AC2-D9B6A9F7C8C0}" type="datetime1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6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BE43-2326-445F-88F1-CBDE05E1A7C6}" type="datetime1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11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C160-37CF-42F6-A4F3-C1A6120AF48F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38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0AA3F-2CC4-47F2-AD99-058DD535A5A1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10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D09E-053A-4797-AEB6-4A845FCF31D8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04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7E11-6011-4489-B3B5-802E7D6A7BF0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05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0E5C4-66BD-4316-8BFC-5364788DB27B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3314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0EC58-E6A7-468B-BF34-180143AE5348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86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8F4B3-939D-4B02-9E19-A1F43D6095C0}" type="datetime1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03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F98E-5398-4787-B2DB-2CDD68B2F649}" type="datetime1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52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7E15-4C63-4944-A590-50CC2A85222B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53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D1E4-86AF-408B-AE4D-7D30EF685906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2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276E9-C6DA-4D67-8B4E-DC2811D042C3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40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D57F1F-1E71-C6ED-3E22-30A5D902F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60" y="3894612"/>
            <a:ext cx="7773308" cy="1884362"/>
          </a:xfrm>
          <a:effectLst/>
        </p:spPr>
        <p:txBody>
          <a:bodyPr>
            <a:noAutofit/>
          </a:bodyPr>
          <a:lstStyle/>
          <a:p>
            <a:r>
              <a:rPr lang="en-US" sz="2000" i="1" dirty="0">
                <a:solidFill>
                  <a:srgbClr val="A9C7E8"/>
                </a:solidFill>
                <a:effectLst/>
              </a:rPr>
              <a:t>Using Data to Improve Delivery Efficiency</a:t>
            </a:r>
          </a:p>
          <a:p>
            <a:r>
              <a:rPr lang="en-US" sz="2000" dirty="0">
                <a:solidFill>
                  <a:srgbClr val="A9C7E8"/>
                </a:solidFill>
                <a:effectLst/>
              </a:rPr>
              <a:t>Presented by: Mohammed Athar Ansari  </a:t>
            </a:r>
          </a:p>
          <a:p>
            <a:pPr lvl="0">
              <a:spcBef>
                <a:spcPts val="100"/>
              </a:spcBef>
            </a:pPr>
            <a:r>
              <a:rPr lang="en-US" sz="2000" dirty="0">
                <a:solidFill>
                  <a:srgbClr val="A9C7E8"/>
                </a:solidFill>
                <a:effectLst/>
              </a:rPr>
              <a:t>Batch: </a:t>
            </a:r>
            <a:r>
              <a:rPr lang="en-IN" sz="2000" dirty="0">
                <a:solidFill>
                  <a:srgbClr val="A9C7E8"/>
                </a:solidFill>
                <a:effectLst/>
              </a:rPr>
              <a:t>DA604</a:t>
            </a:r>
            <a:endParaRPr lang="en-US" sz="2000" dirty="0">
              <a:solidFill>
                <a:srgbClr val="A9C7E8"/>
              </a:solidFill>
              <a:effectLst/>
            </a:endParaRPr>
          </a:p>
          <a:p>
            <a:pPr>
              <a:spcBef>
                <a:spcPts val="100"/>
              </a:spcBef>
            </a:pPr>
            <a:r>
              <a:rPr lang="en-US" sz="2000" dirty="0">
                <a:solidFill>
                  <a:srgbClr val="A9C7E8"/>
                </a:solidFill>
                <a:effectLst/>
              </a:rPr>
              <a:t>Mentor: </a:t>
            </a:r>
            <a:r>
              <a:rPr lang="en-IN" sz="2000" dirty="0">
                <a:solidFill>
                  <a:srgbClr val="A9C7E8"/>
                </a:solidFill>
                <a:effectLst/>
              </a:rPr>
              <a:t>Jaya Pandey</a:t>
            </a:r>
            <a:endParaRPr lang="en-US" sz="2000" dirty="0">
              <a:solidFill>
                <a:srgbClr val="A9C7E8"/>
              </a:solidFill>
              <a:effectLst/>
            </a:endParaRPr>
          </a:p>
          <a:p>
            <a:endParaRPr lang="en-US" sz="2000" dirty="0">
              <a:solidFill>
                <a:schemeClr val="tx2">
                  <a:lumMod val="90000"/>
                </a:schemeClr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3442BA-E699-5AA9-ABF4-F061174CE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029" y="-179918"/>
            <a:ext cx="4936380" cy="32909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524FF-3BEB-E77D-B7CF-AC8217D1E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2F1CBB-686F-9B6C-0BE6-2A11911F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86780"/>
            <a:ext cx="565159" cy="365125"/>
          </a:xfrm>
        </p:spPr>
        <p:txBody>
          <a:bodyPr/>
          <a:lstStyle/>
          <a:p>
            <a:fld id="{C6A0D35F-411F-4F70-B072-038C73989021}" type="slidenum">
              <a:rPr lang="en-US">
                <a:solidFill>
                  <a:srgbClr val="A9C7E8"/>
                </a:solidFill>
              </a:rPr>
              <a:t>1</a:t>
            </a:fld>
            <a:endParaRPr lang="en-US" dirty="0">
              <a:solidFill>
                <a:srgbClr val="A9C7E8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880BA8-D495-BAD2-0C24-B9E3FD349792}"/>
              </a:ext>
            </a:extLst>
          </p:cNvPr>
          <p:cNvSpPr txBox="1"/>
          <p:nvPr/>
        </p:nvSpPr>
        <p:spPr>
          <a:xfrm>
            <a:off x="64008" y="2429318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LogiTech Logistics Analysis &amp; Delay Prediction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9F6C4F-79F0-F16C-3B2A-AC1768A2BA3C}"/>
              </a:ext>
            </a:extLst>
          </p:cNvPr>
          <p:cNvCxnSpPr/>
          <p:nvPr/>
        </p:nvCxnSpPr>
        <p:spPr>
          <a:xfrm>
            <a:off x="877824" y="2944368"/>
            <a:ext cx="7415784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58DA14-6D9A-8E89-0DAF-84FFFC1F4B17}"/>
              </a:ext>
            </a:extLst>
          </p:cNvPr>
          <p:cNvCxnSpPr/>
          <p:nvPr/>
        </p:nvCxnSpPr>
        <p:spPr>
          <a:xfrm>
            <a:off x="3520440" y="3493008"/>
            <a:ext cx="2249424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71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ADA1E-F6FC-9C22-FA26-A9D1E639A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6780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868A8-FFAE-35D8-C3EB-1FAD5C40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86779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C89AE5-0D50-39F5-C8CD-F703937E5E8C}"/>
              </a:ext>
            </a:extLst>
          </p:cNvPr>
          <p:cNvSpPr/>
          <p:nvPr/>
        </p:nvSpPr>
        <p:spPr>
          <a:xfrm>
            <a:off x="850392" y="4008121"/>
            <a:ext cx="7801601" cy="2093625"/>
          </a:xfrm>
          <a:prstGeom prst="roundRect">
            <a:avLst/>
          </a:prstGeom>
          <a:solidFill>
            <a:srgbClr val="1F3A5F">
              <a:alpha val="69804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30"/>
              </a:spcBef>
            </a:pPr>
            <a:r>
              <a:rPr lang="en-US" sz="1600" dirty="0">
                <a:solidFill>
                  <a:srgbClr val="A9C7E8"/>
                </a:solidFill>
              </a:rPr>
              <a:t>Many logistics companies face frequent delivery delays, which increase costs and reduce customer satisfaction.</a:t>
            </a:r>
          </a:p>
          <a:p>
            <a:pPr algn="ctr">
              <a:spcBef>
                <a:spcPts val="130"/>
              </a:spcBef>
            </a:pPr>
            <a:br>
              <a:rPr lang="en-US" sz="1600" dirty="0">
                <a:solidFill>
                  <a:srgbClr val="A9C7E8"/>
                </a:solidFill>
              </a:rPr>
            </a:br>
            <a:r>
              <a:rPr lang="en-US" sz="1600" dirty="0">
                <a:solidFill>
                  <a:srgbClr val="A9C7E8"/>
                </a:solidFill>
              </a:rPr>
              <a:t>There is no clear system to identify which factors (warehouse, shipment type, or delivery mode) are causing these delays.</a:t>
            </a:r>
            <a:br>
              <a:rPr lang="en-US" sz="1600" dirty="0">
                <a:solidFill>
                  <a:srgbClr val="A9C7E8"/>
                </a:solidFill>
              </a:rPr>
            </a:br>
            <a:br>
              <a:rPr lang="en-US" sz="1600" dirty="0">
                <a:solidFill>
                  <a:srgbClr val="A9C7E8"/>
                </a:solidFill>
              </a:rPr>
            </a:br>
            <a:r>
              <a:rPr lang="en-US" sz="1600" dirty="0">
                <a:solidFill>
                  <a:srgbClr val="A9C7E8"/>
                </a:solidFill>
              </a:rPr>
              <a:t>As a result, decisions are often reactive instead of proactive, leading to inefficiencies and poor service quality.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BFDEE07-2F1F-0C10-7823-BA15F62BEA50}"/>
              </a:ext>
            </a:extLst>
          </p:cNvPr>
          <p:cNvSpPr txBox="1">
            <a:spLocks/>
          </p:cNvSpPr>
          <p:nvPr/>
        </p:nvSpPr>
        <p:spPr>
          <a:xfrm>
            <a:off x="1193699" y="2796540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000"/>
              </a:spcAft>
            </a:pPr>
            <a:r>
              <a:rPr lang="en-US" sz="4000" dirty="0"/>
              <a:t>Problem Statement</a:t>
            </a:r>
          </a:p>
          <a:p>
            <a:r>
              <a:rPr lang="en-US" sz="1400" dirty="0">
                <a:solidFill>
                  <a:srgbClr val="A9C7E8"/>
                </a:solidFill>
              </a:rPr>
              <a:t>DELIVERY DELAYS AND OPERATION ISSUES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850B9C-D34D-E9F6-95F6-820BA8E22CBB}"/>
              </a:ext>
            </a:extLst>
          </p:cNvPr>
          <p:cNvCxnSpPr>
            <a:cxnSpLocks/>
          </p:cNvCxnSpPr>
          <p:nvPr/>
        </p:nvCxnSpPr>
        <p:spPr>
          <a:xfrm>
            <a:off x="1950553" y="3483864"/>
            <a:ext cx="6160175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 descr="Warning with solid fill">
            <a:extLst>
              <a:ext uri="{FF2B5EF4-FFF2-40B4-BE49-F238E27FC236}">
                <a16:creationId xmlns:a16="http://schemas.microsoft.com/office/drawing/2014/main" id="{89F0587E-5182-A5D8-DA7D-8BB75AA57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5940" y="2951447"/>
            <a:ext cx="786384" cy="786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63BF73-C822-5E0E-9D17-ACB730D9FA76}"/>
              </a:ext>
            </a:extLst>
          </p:cNvPr>
          <p:cNvSpPr txBox="1">
            <a:spLocks/>
          </p:cNvSpPr>
          <p:nvPr/>
        </p:nvSpPr>
        <p:spPr>
          <a:xfrm>
            <a:off x="689339" y="509022"/>
            <a:ext cx="7765321" cy="758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PROJECT OVERVIEW</a:t>
            </a:r>
            <a:endParaRPr lang="en-US" sz="1400" dirty="0">
              <a:solidFill>
                <a:srgbClr val="A9C7E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912712-34D1-25C9-A820-3D43D54A4644}"/>
              </a:ext>
            </a:extLst>
          </p:cNvPr>
          <p:cNvCxnSpPr>
            <a:cxnSpLocks/>
          </p:cNvCxnSpPr>
          <p:nvPr/>
        </p:nvCxnSpPr>
        <p:spPr>
          <a:xfrm>
            <a:off x="1673352" y="1066800"/>
            <a:ext cx="5678424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C41927-FD5B-FAAD-BA9A-6C3F07855A99}"/>
              </a:ext>
            </a:extLst>
          </p:cNvPr>
          <p:cNvSpPr/>
          <p:nvPr/>
        </p:nvSpPr>
        <p:spPr>
          <a:xfrm>
            <a:off x="850391" y="1361673"/>
            <a:ext cx="7801601" cy="1389242"/>
          </a:xfrm>
          <a:prstGeom prst="roundRect">
            <a:avLst/>
          </a:prstGeom>
          <a:solidFill>
            <a:srgbClr val="1F3A5F">
              <a:alpha val="69804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A9C7E8"/>
                </a:solidFill>
              </a:rPr>
              <a:t>This project analyzes logistics operations to understand delivery delays, shipment costs, and warehouse performance.</a:t>
            </a:r>
          </a:p>
          <a:p>
            <a:endParaRPr lang="en-US" sz="1600" dirty="0">
              <a:solidFill>
                <a:srgbClr val="A9C7E8"/>
              </a:solidFill>
            </a:endParaRPr>
          </a:p>
          <a:p>
            <a:r>
              <a:rPr lang="en-US" sz="1600" dirty="0">
                <a:solidFill>
                  <a:srgbClr val="A9C7E8"/>
                </a:solidFill>
              </a:rPr>
              <a:t>The goal is to use data to identify inefficiencies and improve overall delivery efficiency.</a:t>
            </a:r>
          </a:p>
        </p:txBody>
      </p:sp>
    </p:spTree>
    <p:extLst>
      <p:ext uri="{BB962C8B-B14F-4D97-AF65-F5344CB8AC3E}">
        <p14:creationId xmlns:p14="http://schemas.microsoft.com/office/powerpoint/2010/main" val="138093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71F70C3-04D3-A627-4981-93EDB939FF2A}"/>
              </a:ext>
            </a:extLst>
          </p:cNvPr>
          <p:cNvSpPr/>
          <p:nvPr/>
        </p:nvSpPr>
        <p:spPr>
          <a:xfrm>
            <a:off x="685346" y="1728340"/>
            <a:ext cx="2377894" cy="964323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8C00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Shipment Analysis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41CADB-76CF-5166-2733-9CBD28983AFA}"/>
              </a:ext>
            </a:extLst>
          </p:cNvPr>
          <p:cNvSpPr/>
          <p:nvPr/>
        </p:nvSpPr>
        <p:spPr>
          <a:xfrm>
            <a:off x="6058726" y="1728340"/>
            <a:ext cx="2389656" cy="964323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8C00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Delivery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BD41C1-96D9-102F-A53D-C2BC3BCED51C}"/>
              </a:ext>
            </a:extLst>
          </p:cNvPr>
          <p:cNvSpPr/>
          <p:nvPr/>
        </p:nvSpPr>
        <p:spPr>
          <a:xfrm>
            <a:off x="3236976" y="1728340"/>
            <a:ext cx="2648014" cy="987428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8C00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Warehouse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8C00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Analysis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EBF39A-AA5A-25A2-EE9C-D5600ED1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47" y="530793"/>
            <a:ext cx="7765322" cy="1325563"/>
          </a:xfrm>
        </p:spPr>
        <p:txBody>
          <a:bodyPr>
            <a:normAutofit/>
          </a:bodyPr>
          <a:lstStyle/>
          <a:p>
            <a:r>
              <a:rPr lang="en-US" sz="4000" dirty="0"/>
              <a:t>BUSINESS OBJECTIVES</a:t>
            </a:r>
            <a:br>
              <a:rPr lang="en-US" sz="4000" dirty="0"/>
            </a:br>
            <a:endParaRPr lang="en-US" sz="1600" dirty="0">
              <a:solidFill>
                <a:srgbClr val="A9C7E8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D9B2CD-127C-C0FF-9617-FCEEC850C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40CB818-0782-7D50-7BBE-66740D52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4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ADF6D3-60A0-2D9D-4761-39AFDB6D6AB2}"/>
              </a:ext>
            </a:extLst>
          </p:cNvPr>
          <p:cNvCxnSpPr>
            <a:cxnSpLocks/>
          </p:cNvCxnSpPr>
          <p:nvPr/>
        </p:nvCxnSpPr>
        <p:spPr>
          <a:xfrm>
            <a:off x="1365337" y="1271016"/>
            <a:ext cx="6361343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B9908C0-3DF0-BE66-51A4-DAACACFB914D}"/>
              </a:ext>
            </a:extLst>
          </p:cNvPr>
          <p:cNvCxnSpPr>
            <a:cxnSpLocks/>
          </p:cNvCxnSpPr>
          <p:nvPr/>
        </p:nvCxnSpPr>
        <p:spPr>
          <a:xfrm>
            <a:off x="1115339" y="2159185"/>
            <a:ext cx="1490701" cy="48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4C7D9C-3124-E26C-99F6-54E677A07185}"/>
              </a:ext>
            </a:extLst>
          </p:cNvPr>
          <p:cNvCxnSpPr>
            <a:cxnSpLocks/>
          </p:cNvCxnSpPr>
          <p:nvPr/>
        </p:nvCxnSpPr>
        <p:spPr>
          <a:xfrm>
            <a:off x="1197697" y="2520696"/>
            <a:ext cx="13169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93FCF7-0A6C-F72A-87D2-2ABD20AA499A}"/>
              </a:ext>
            </a:extLst>
          </p:cNvPr>
          <p:cNvCxnSpPr>
            <a:cxnSpLocks/>
          </p:cNvCxnSpPr>
          <p:nvPr/>
        </p:nvCxnSpPr>
        <p:spPr>
          <a:xfrm>
            <a:off x="3767365" y="2166727"/>
            <a:ext cx="15818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13F691C-DA9B-F02F-5890-C5F179F401A4}"/>
              </a:ext>
            </a:extLst>
          </p:cNvPr>
          <p:cNvCxnSpPr>
            <a:cxnSpLocks/>
          </p:cNvCxnSpPr>
          <p:nvPr/>
        </p:nvCxnSpPr>
        <p:spPr>
          <a:xfrm>
            <a:off x="3882818" y="2529840"/>
            <a:ext cx="13018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72588A9-F26A-9B1E-0208-C3AF05A13371}"/>
              </a:ext>
            </a:extLst>
          </p:cNvPr>
          <p:cNvCxnSpPr>
            <a:cxnSpLocks/>
          </p:cNvCxnSpPr>
          <p:nvPr/>
        </p:nvCxnSpPr>
        <p:spPr>
          <a:xfrm flipV="1">
            <a:off x="6568273" y="2154936"/>
            <a:ext cx="1313855" cy="42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98AE82FB-ED2F-7549-1827-C38FCCEC1ADE}"/>
              </a:ext>
            </a:extLst>
          </p:cNvPr>
          <p:cNvSpPr txBox="1">
            <a:spLocks/>
          </p:cNvSpPr>
          <p:nvPr/>
        </p:nvSpPr>
        <p:spPr>
          <a:xfrm>
            <a:off x="658200" y="3017953"/>
            <a:ext cx="77653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TOOLS &amp; TECHNIQUES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6E98BAF-C535-3564-AC77-400EF464595E}"/>
              </a:ext>
            </a:extLst>
          </p:cNvPr>
          <p:cNvCxnSpPr>
            <a:cxnSpLocks/>
          </p:cNvCxnSpPr>
          <p:nvPr/>
        </p:nvCxnSpPr>
        <p:spPr>
          <a:xfrm>
            <a:off x="1479229" y="3860566"/>
            <a:ext cx="6108192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937F448-DBFF-40F4-C24C-C3E0163AEFE5}"/>
              </a:ext>
            </a:extLst>
          </p:cNvPr>
          <p:cNvSpPr/>
          <p:nvPr/>
        </p:nvSpPr>
        <p:spPr>
          <a:xfrm>
            <a:off x="942712" y="4185856"/>
            <a:ext cx="7213735" cy="1894902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A9C7E8"/>
                </a:solidFill>
              </a:rPr>
              <a:t>• </a:t>
            </a:r>
            <a:r>
              <a:rPr lang="en-US" sz="1600" dirty="0">
                <a:solidFill>
                  <a:srgbClr val="FF8C42"/>
                </a:solidFill>
              </a:rPr>
              <a:t>Python (Pandas, NumPy)</a:t>
            </a:r>
            <a:r>
              <a:rPr lang="en-US" sz="1600" dirty="0">
                <a:solidFill>
                  <a:srgbClr val="A9C7E8"/>
                </a:solidFill>
              </a:rPr>
              <a:t> – Data cleaning and processing  </a:t>
            </a:r>
          </a:p>
          <a:p>
            <a:pPr algn="ctr"/>
            <a:endParaRPr lang="en-US" sz="1600" dirty="0">
              <a:solidFill>
                <a:srgbClr val="A9C7E8"/>
              </a:solidFill>
            </a:endParaRPr>
          </a:p>
          <a:p>
            <a:pPr algn="ctr"/>
            <a:r>
              <a:rPr lang="en-US" sz="1600" dirty="0">
                <a:solidFill>
                  <a:srgbClr val="A9C7E8"/>
                </a:solidFill>
              </a:rPr>
              <a:t>• </a:t>
            </a:r>
            <a:r>
              <a:rPr lang="en-US" sz="1600" dirty="0">
                <a:solidFill>
                  <a:srgbClr val="FF8C42"/>
                </a:solidFill>
              </a:rPr>
              <a:t>Matplotlib &amp; Seaborn </a:t>
            </a:r>
            <a:r>
              <a:rPr lang="en-US" sz="1600" dirty="0">
                <a:solidFill>
                  <a:srgbClr val="A9C7E8"/>
                </a:solidFill>
              </a:rPr>
              <a:t>– Data visualization  </a:t>
            </a:r>
          </a:p>
          <a:p>
            <a:pPr algn="ctr"/>
            <a:endParaRPr lang="en-US" sz="1600" dirty="0">
              <a:solidFill>
                <a:srgbClr val="A9C7E8"/>
              </a:solidFill>
            </a:endParaRPr>
          </a:p>
          <a:p>
            <a:pPr algn="ctr"/>
            <a:r>
              <a:rPr lang="en-US" sz="1600" dirty="0">
                <a:solidFill>
                  <a:srgbClr val="A9C7E8"/>
                </a:solidFill>
              </a:rPr>
              <a:t>• </a:t>
            </a:r>
            <a:r>
              <a:rPr lang="en-US" sz="1600" dirty="0">
                <a:solidFill>
                  <a:srgbClr val="FF8C42"/>
                </a:solidFill>
              </a:rPr>
              <a:t>Exploratory Data Analysis (EDA) </a:t>
            </a:r>
            <a:r>
              <a:rPr lang="en-US" sz="1600" dirty="0">
                <a:solidFill>
                  <a:srgbClr val="A9C7E8"/>
                </a:solidFill>
              </a:rPr>
              <a:t>– Finding patterns and trends  </a:t>
            </a:r>
          </a:p>
          <a:p>
            <a:pPr algn="ctr"/>
            <a:endParaRPr lang="en-US" sz="1600" dirty="0">
              <a:solidFill>
                <a:srgbClr val="A9C7E8"/>
              </a:solidFill>
            </a:endParaRPr>
          </a:p>
          <a:p>
            <a:pPr algn="ctr"/>
            <a:r>
              <a:rPr lang="en-US" sz="1600" dirty="0">
                <a:solidFill>
                  <a:srgbClr val="A9C7E8"/>
                </a:solidFill>
              </a:rPr>
              <a:t>• </a:t>
            </a:r>
            <a:r>
              <a:rPr lang="en-US" sz="1600" dirty="0">
                <a:solidFill>
                  <a:srgbClr val="FF8C42"/>
                </a:solidFill>
              </a:rPr>
              <a:t>Power BI </a:t>
            </a:r>
            <a:r>
              <a:rPr lang="en-US" sz="1600" dirty="0">
                <a:solidFill>
                  <a:srgbClr val="A9C7E8"/>
                </a:solidFill>
              </a:rPr>
              <a:t>– Dashboard creation and insights presentation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84B65E-4E50-0E3D-6B7E-3714529F883E}"/>
              </a:ext>
            </a:extLst>
          </p:cNvPr>
          <p:cNvSpPr txBox="1"/>
          <p:nvPr/>
        </p:nvSpPr>
        <p:spPr>
          <a:xfrm>
            <a:off x="3231615" y="1814822"/>
            <a:ext cx="43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8C42"/>
                </a:solidFill>
              </a:rPr>
              <a:t>🏭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7089F0-7566-3315-EC44-FE813F1C6B24}"/>
              </a:ext>
            </a:extLst>
          </p:cNvPr>
          <p:cNvSpPr txBox="1"/>
          <p:nvPr/>
        </p:nvSpPr>
        <p:spPr>
          <a:xfrm>
            <a:off x="685632" y="1860342"/>
            <a:ext cx="429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📦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45CC317-3F27-D858-BCC7-1DD39E7D993C}"/>
              </a:ext>
            </a:extLst>
          </p:cNvPr>
          <p:cNvCxnSpPr>
            <a:cxnSpLocks/>
          </p:cNvCxnSpPr>
          <p:nvPr/>
        </p:nvCxnSpPr>
        <p:spPr>
          <a:xfrm>
            <a:off x="6586394" y="2526792"/>
            <a:ext cx="13018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1D55468-7935-E844-97A2-448545DE3884}"/>
              </a:ext>
            </a:extLst>
          </p:cNvPr>
          <p:cNvSpPr txBox="1"/>
          <p:nvPr/>
        </p:nvSpPr>
        <p:spPr>
          <a:xfrm>
            <a:off x="6058726" y="1814822"/>
            <a:ext cx="43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🚚</a:t>
            </a:r>
          </a:p>
        </p:txBody>
      </p:sp>
      <p:pic>
        <p:nvPicPr>
          <p:cNvPr id="50" name="Graphic 49" descr="Tools with solid fill">
            <a:extLst>
              <a:ext uri="{FF2B5EF4-FFF2-40B4-BE49-F238E27FC236}">
                <a16:creationId xmlns:a16="http://schemas.microsoft.com/office/drawing/2014/main" id="{B246AE63-9633-EC9C-7AC8-ECB40A628F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4424" y="3450182"/>
            <a:ext cx="405005" cy="40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225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56254-D918-DA83-7353-10975777E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63"/>
            <a:ext cx="9144000" cy="1326321"/>
          </a:xfrm>
        </p:spPr>
        <p:txBody>
          <a:bodyPr>
            <a:normAutofit/>
          </a:bodyPr>
          <a:lstStyle/>
          <a:p>
            <a:r>
              <a:rPr lang="en-US" sz="4000" dirty="0"/>
              <a:t>SHIPMENT ANALYSIS</a:t>
            </a:r>
            <a:br>
              <a:rPr lang="en-US" sz="4000" dirty="0"/>
            </a:br>
            <a:r>
              <a:rPr lang="en-US" sz="1800" dirty="0">
                <a:solidFill>
                  <a:srgbClr val="A9C7E8"/>
                </a:solidFill>
              </a:rPr>
              <a:t>SHIPMENT WEIGHT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CD085A-DC6B-B56C-9883-5E286557F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5924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0E171-D203-3906-F06C-1EBB3F4ED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5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615D10-A29A-F1D3-071D-9F1A36D5CCDE}"/>
              </a:ext>
            </a:extLst>
          </p:cNvPr>
          <p:cNvCxnSpPr>
            <a:cxnSpLocks/>
          </p:cNvCxnSpPr>
          <p:nvPr/>
        </p:nvCxnSpPr>
        <p:spPr>
          <a:xfrm>
            <a:off x="1719229" y="730286"/>
            <a:ext cx="5724144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C0DB232-A0F5-868B-906C-BD9E019905D2}"/>
              </a:ext>
            </a:extLst>
          </p:cNvPr>
          <p:cNvSpPr/>
          <p:nvPr/>
        </p:nvSpPr>
        <p:spPr>
          <a:xfrm>
            <a:off x="6565392" y="2068785"/>
            <a:ext cx="2381934" cy="3564091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Key Insights: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Most shipments cost less than $1, even at higher weights.</a:t>
            </a:r>
            <a:b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</a:b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Shipments between 300–700 Kg weight cost around $5K–$9K.</a:t>
            </a:r>
            <a:b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</a:b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One shipment (~2200 Kg) has very high cost (~$31K). </a:t>
            </a:r>
          </a:p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Interpretation: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Cost usually increases with weight, but not for all shipments.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7C2941-E0C6-E3F5-DB42-EE7351A4C145}"/>
              </a:ext>
            </a:extLst>
          </p:cNvPr>
          <p:cNvSpPr/>
          <p:nvPr/>
        </p:nvSpPr>
        <p:spPr>
          <a:xfrm>
            <a:off x="201169" y="5635927"/>
            <a:ext cx="8746156" cy="856947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Recommendation: </a:t>
            </a:r>
            <a:b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</a:b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Focus on high-cost shipments like the ~$31K case.</a:t>
            </a:r>
            <a:b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</a:b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Improve pricing consistency based on weight.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39925F-A1CA-DF2D-65F6-426EAE518685}"/>
              </a:ext>
            </a:extLst>
          </p:cNvPr>
          <p:cNvSpPr/>
          <p:nvPr/>
        </p:nvSpPr>
        <p:spPr>
          <a:xfrm>
            <a:off x="201169" y="1117154"/>
            <a:ext cx="8750650" cy="856946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Requirement: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How does shipment cost vary with weight?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Technique: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EDA using Python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337B48-62BA-66C0-6D81-34A6303AF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9" y="2056607"/>
            <a:ext cx="6272783" cy="348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802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4011D-8A57-33B6-0123-64AA4D97D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6B99-5E5C-DEBE-0019-67CBD7BB9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81"/>
            <a:ext cx="9144000" cy="1326321"/>
          </a:xfrm>
        </p:spPr>
        <p:txBody>
          <a:bodyPr>
            <a:normAutofit/>
          </a:bodyPr>
          <a:lstStyle/>
          <a:p>
            <a:r>
              <a:rPr lang="en-US" sz="4000" dirty="0"/>
              <a:t>SHIPMENT ANALYSIS</a:t>
            </a:r>
            <a:br>
              <a:rPr lang="en-US" sz="4000" dirty="0"/>
            </a:br>
            <a:r>
              <a:rPr lang="en-US" sz="1800" dirty="0">
                <a:solidFill>
                  <a:srgbClr val="A9C7E8"/>
                </a:solidFill>
              </a:rPr>
              <a:t>Top 10 Shipments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619A5-E22F-F2E6-D6FB-B2BEBEB6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5924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C187D-B540-5404-6949-40B33B0F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5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E4289E-621E-898A-65FE-100AF851B89F}"/>
              </a:ext>
            </a:extLst>
          </p:cNvPr>
          <p:cNvCxnSpPr>
            <a:cxnSpLocks/>
          </p:cNvCxnSpPr>
          <p:nvPr/>
        </p:nvCxnSpPr>
        <p:spPr>
          <a:xfrm>
            <a:off x="1819813" y="730286"/>
            <a:ext cx="5724144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DA5B3A3-9AFB-2F32-891F-CE90F8A7DF97}"/>
              </a:ext>
            </a:extLst>
          </p:cNvPr>
          <p:cNvSpPr/>
          <p:nvPr/>
        </p:nvSpPr>
        <p:spPr>
          <a:xfrm>
            <a:off x="6272784" y="2042425"/>
            <a:ext cx="2674542" cy="3513374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Key Insights: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ts val="500"/>
              </a:spcAft>
              <a:buFontTx/>
              <a:buChar char="•"/>
            </a:pPr>
            <a:r>
              <a:rPr lang="en-US" alt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Top shipment costs $31,050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500"/>
              </a:spcAft>
              <a:buFontTx/>
              <a:buChar char="•"/>
            </a:pPr>
            <a:r>
              <a:rPr lang="en-US" alt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Next highest costs are $9,201      and $7,004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1000"/>
              </a:spcAft>
              <a:buFontTx/>
              <a:buChar char="•"/>
            </a:pPr>
            <a:r>
              <a:rPr lang="en-US" alt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Top 3 shipments contribute a large share of total cost 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Interpretation: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Total cost is driven by a few high-cost shipments rather than all shipments equally.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9B03FB-7063-B06B-AB13-A55114DDDDB2}"/>
              </a:ext>
            </a:extLst>
          </p:cNvPr>
          <p:cNvSpPr/>
          <p:nvPr/>
        </p:nvSpPr>
        <p:spPr>
          <a:xfrm>
            <a:off x="201169" y="5635927"/>
            <a:ext cx="8746156" cy="859997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Recommendation: 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</a:pPr>
            <a:r>
              <a:rPr lang="en-US" alt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Monitor high-cost shipments and optimize routes and pricing for these cases.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7251E1-FEC9-0867-88A5-0270C70973A5}"/>
              </a:ext>
            </a:extLst>
          </p:cNvPr>
          <p:cNvSpPr/>
          <p:nvPr/>
        </p:nvSpPr>
        <p:spPr>
          <a:xfrm>
            <a:off x="201169" y="1108688"/>
            <a:ext cx="8750650" cy="856946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Requirement: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Which shipments contribute most to total cost?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Technique: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SQL (Join)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A6D27E-5535-395F-1F2F-04D3E7099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042425"/>
            <a:ext cx="5989319" cy="351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18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1C04F-ACCD-A659-D1BD-F76B66876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210F8-F1D1-1E78-3442-1F33825D2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81"/>
            <a:ext cx="9144000" cy="1326321"/>
          </a:xfrm>
        </p:spPr>
        <p:txBody>
          <a:bodyPr>
            <a:normAutofit/>
          </a:bodyPr>
          <a:lstStyle/>
          <a:p>
            <a:r>
              <a:rPr lang="en-US" sz="4000" dirty="0"/>
              <a:t>SHIPMENT ANALYSIS</a:t>
            </a:r>
            <a:br>
              <a:rPr lang="en-US" sz="4000" dirty="0"/>
            </a:br>
            <a:r>
              <a:rPr lang="en-US" sz="1800" dirty="0">
                <a:solidFill>
                  <a:srgbClr val="A9C7E8"/>
                </a:solidFill>
              </a:rPr>
              <a:t>FACTORS AFFECTING SHIPMENT COST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DAE59-C99F-E0A9-7760-D7497977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5924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F2B59-B42E-D91C-489D-90445348B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5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4F246F-14FF-A48A-A388-2AF35EB88636}"/>
              </a:ext>
            </a:extLst>
          </p:cNvPr>
          <p:cNvCxnSpPr>
            <a:cxnSpLocks/>
          </p:cNvCxnSpPr>
          <p:nvPr/>
        </p:nvCxnSpPr>
        <p:spPr>
          <a:xfrm>
            <a:off x="1819813" y="730286"/>
            <a:ext cx="5724144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BDC6816-3AD9-8003-D76C-CE544A467A7C}"/>
              </a:ext>
            </a:extLst>
          </p:cNvPr>
          <p:cNvSpPr/>
          <p:nvPr/>
        </p:nvSpPr>
        <p:spPr>
          <a:xfrm>
            <a:off x="6126480" y="2042425"/>
            <a:ext cx="2820846" cy="3513374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Key Insights:</a:t>
            </a:r>
          </a:p>
          <a:p>
            <a:pPr>
              <a:spcAft>
                <a:spcPts val="500"/>
              </a:spcAft>
            </a:pPr>
            <a:r>
              <a:rPr lang="en-US" alt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Model accuracy is very low (R² = -39.51)  </a:t>
            </a:r>
          </a:p>
          <a:p>
            <a:pPr>
              <a:spcAft>
                <a:spcPts val="500"/>
              </a:spcAft>
            </a:pPr>
            <a:r>
              <a:rPr lang="en-US" alt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Shipment cost is not well explained by these factors  </a:t>
            </a:r>
          </a:p>
          <a:p>
            <a:pPr>
              <a:spcAft>
                <a:spcPts val="500"/>
              </a:spcAft>
            </a:pPr>
            <a:r>
              <a:rPr lang="en-US" alt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Other important factors are missing </a:t>
            </a:r>
          </a:p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Interpretation: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Shipment cost depends on more factors than just weight, delivery time, and warehouse utilization.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D1FC6B-8774-3279-AB1E-E655682770AE}"/>
              </a:ext>
            </a:extLst>
          </p:cNvPr>
          <p:cNvSpPr/>
          <p:nvPr/>
        </p:nvSpPr>
        <p:spPr>
          <a:xfrm>
            <a:off x="201169" y="5635927"/>
            <a:ext cx="8746156" cy="859997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Recommendation: </a:t>
            </a:r>
            <a:r>
              <a:rPr lang="en-US" alt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Include additional factors like distance, shipping method, and packaging to better understand shipment cost.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593A2E-3ADB-CD13-C67D-4E066EC15B2A}"/>
              </a:ext>
            </a:extLst>
          </p:cNvPr>
          <p:cNvSpPr/>
          <p:nvPr/>
        </p:nvSpPr>
        <p:spPr>
          <a:xfrm>
            <a:off x="201169" y="1108688"/>
            <a:ext cx="8750650" cy="856946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Requirement: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What factors affect shipment cost the most?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Technique: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Multiple Linear Regression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081335-533A-F44C-D6D0-219A68A95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019144"/>
              </p:ext>
            </p:extLst>
          </p:nvPr>
        </p:nvGraphicFramePr>
        <p:xfrm>
          <a:off x="324690" y="2687320"/>
          <a:ext cx="5711952" cy="148336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855976">
                  <a:extLst>
                    <a:ext uri="{9D8B030D-6E8A-4147-A177-3AD203B41FA5}">
                      <a16:colId xmlns:a16="http://schemas.microsoft.com/office/drawing/2014/main" val="3757063756"/>
                    </a:ext>
                  </a:extLst>
                </a:gridCol>
                <a:gridCol w="2855976">
                  <a:extLst>
                    <a:ext uri="{9D8B030D-6E8A-4147-A177-3AD203B41FA5}">
                      <a16:colId xmlns:a16="http://schemas.microsoft.com/office/drawing/2014/main" val="16737556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kern="1200" dirty="0">
                          <a:solidFill>
                            <a:srgbClr val="FF8C42"/>
                          </a:solidFill>
                          <a:effectLst>
                            <a:outerShdw blurRad="50800" dist="38100" dir="2700000" algn="tl" rotWithShape="0">
                              <a:srgbClr val="000000">
                                <a:alpha val="48000"/>
                              </a:srgbClr>
                            </a:outerShdw>
                          </a:effectLst>
                        </a:rPr>
                        <a:t>Factor</a:t>
                      </a:r>
                      <a:endParaRPr lang="en-US" sz="1600" b="1" kern="1200" dirty="0">
                        <a:solidFill>
                          <a:srgbClr val="FF8C42"/>
                        </a:solidFill>
                        <a:effectLst>
                          <a:outerShdw blurRad="50800" dist="38100" dir="2700000" algn="tl" rotWithShape="0">
                            <a:srgbClr val="000000">
                              <a:alpha val="48000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FF8C42"/>
                          </a:solidFill>
                          <a:effectLst>
                            <a:outerShdw blurRad="50800" dist="38100" dir="2700000" algn="tl" rotWithShape="0">
                              <a:srgbClr val="000000">
                                <a:alpha val="48000"/>
                              </a:srgbClr>
                            </a:outerShdw>
                          </a:effectLst>
                        </a:rPr>
                        <a:t>Impact on Cost</a:t>
                      </a:r>
                      <a:endParaRPr lang="en-US" sz="1600" b="1" kern="1200" dirty="0">
                        <a:solidFill>
                          <a:srgbClr val="FF8C42"/>
                        </a:solidFill>
                        <a:effectLst>
                          <a:outerShdw blurRad="50800" dist="38100" dir="2700000" algn="tl" rotWithShape="0">
                            <a:srgbClr val="000000">
                              <a:alpha val="48000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781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+3.05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192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Delivery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-115.67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665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Warehouse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-9.89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56815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850C0CF-7D6C-8282-320E-7A73C24898DF}"/>
              </a:ext>
            </a:extLst>
          </p:cNvPr>
          <p:cNvSpPr/>
          <p:nvPr/>
        </p:nvSpPr>
        <p:spPr>
          <a:xfrm>
            <a:off x="201169" y="2042425"/>
            <a:ext cx="1199310" cy="404353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Output: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8026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0794B-F0E5-0CC5-1AC0-C2288ED45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B05D1-772D-A830-3064-14FBBB902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36"/>
            <a:ext cx="9144000" cy="1326321"/>
          </a:xfrm>
        </p:spPr>
        <p:txBody>
          <a:bodyPr>
            <a:normAutofit/>
          </a:bodyPr>
          <a:lstStyle/>
          <a:p>
            <a:r>
              <a:rPr lang="en-US" sz="4000" dirty="0"/>
              <a:t>SHIPMENT ANALYSIS</a:t>
            </a:r>
            <a:br>
              <a:rPr lang="en-US" sz="4000" dirty="0"/>
            </a:br>
            <a:r>
              <a:rPr lang="en-US" sz="1800" dirty="0">
                <a:solidFill>
                  <a:srgbClr val="A9C7E8"/>
                </a:solidFill>
              </a:rPr>
              <a:t>Shipment Performance Dashboard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1BBD3-120D-C97E-A8E6-FE6D8788D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5924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2C856-5819-250A-D987-37F909BB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5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BC5B9D-2E92-4C7D-0D1C-E9FA9D4EC5AD}"/>
              </a:ext>
            </a:extLst>
          </p:cNvPr>
          <p:cNvCxnSpPr>
            <a:cxnSpLocks/>
          </p:cNvCxnSpPr>
          <p:nvPr/>
        </p:nvCxnSpPr>
        <p:spPr>
          <a:xfrm>
            <a:off x="1719229" y="722287"/>
            <a:ext cx="5724144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4F08CC1-6C83-9EDB-E815-F70714BBEFAB}"/>
              </a:ext>
            </a:extLst>
          </p:cNvPr>
          <p:cNvSpPr/>
          <p:nvPr/>
        </p:nvSpPr>
        <p:spPr>
          <a:xfrm>
            <a:off x="6455664" y="1959469"/>
            <a:ext cx="2491662" cy="3570164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Key Insights: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ts val="500"/>
              </a:spcAft>
              <a:buFontTx/>
              <a:buChar char="•"/>
            </a:pPr>
            <a:r>
              <a:rPr lang="en-US" alt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Shows total shipments, average cost, and weight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500"/>
              </a:spcAft>
              <a:buFontTx/>
              <a:buChar char="•"/>
            </a:pPr>
            <a:r>
              <a:rPr lang="en-US" alt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Highlights high-cost shipments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1000"/>
              </a:spcAft>
              <a:buFontTx/>
              <a:buChar char="•"/>
            </a:pPr>
            <a:r>
              <a:rPr lang="en-US" alt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Allows filtering by warehouse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Interpretation: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The dashboard makes it easy to track shipment cost and quickly spot expensive shipments.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96C736-4B22-6EB4-6B69-ED49F865D93F}"/>
              </a:ext>
            </a:extLst>
          </p:cNvPr>
          <p:cNvSpPr/>
          <p:nvPr/>
        </p:nvSpPr>
        <p:spPr>
          <a:xfrm>
            <a:off x="201169" y="5635927"/>
            <a:ext cx="8746156" cy="859997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Recommendation: </a:t>
            </a:r>
            <a:r>
              <a:rPr lang="en-US" alt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Use the dashboard to monitor shipment cost regularly, identify high-cost shipments early, and support faster decision-making.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C65546-FCA7-D27A-3277-00AEAC8F4515}"/>
              </a:ext>
            </a:extLst>
          </p:cNvPr>
          <p:cNvSpPr/>
          <p:nvPr/>
        </p:nvSpPr>
        <p:spPr>
          <a:xfrm>
            <a:off x="205976" y="1102523"/>
            <a:ext cx="8750650" cy="856946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Requirement 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Which shipments are the most expensive?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Technique: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Power BI Dashboard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E09524-1580-EE7A-F707-630CE3E8D943}"/>
              </a:ext>
            </a:extLst>
          </p:cNvPr>
          <p:cNvSpPr/>
          <p:nvPr/>
        </p:nvSpPr>
        <p:spPr>
          <a:xfrm>
            <a:off x="164977" y="5202192"/>
            <a:ext cx="3108503" cy="433735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hlinkClick r:id="rId2" action="ppaction://hlinksldjump"/>
              </a:rPr>
              <a:t>Click to view full dashboard.</a:t>
            </a:r>
            <a:endParaRPr lang="en-US" sz="1600" b="1" dirty="0">
              <a:solidFill>
                <a:srgbClr val="FF8C42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D87B2B3C-BBB1-08E1-33E4-AE5064171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76" y="1960221"/>
            <a:ext cx="6240387" cy="324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490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03C701-135F-3BB7-6486-BE24675D7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243998-C841-F349-7CC2-75C814E42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4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5" name="20260425-1352-17.1178089">
            <a:hlinkClick r:id="" action="ppaction://media"/>
            <a:extLst>
              <a:ext uri="{FF2B5EF4-FFF2-40B4-BE49-F238E27FC236}">
                <a16:creationId xmlns:a16="http://schemas.microsoft.com/office/drawing/2014/main" id="{9AA651DA-0BF8-A5D8-AFD2-B75319F1E80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860425"/>
            <a:ext cx="9144000" cy="513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1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6C8BB-924E-F68A-CAC2-3E876B18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23B5-BE5B-03D5-EF4F-F583CE5A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8"/>
            <a:ext cx="9144000" cy="1326321"/>
          </a:xfrm>
        </p:spPr>
        <p:txBody>
          <a:bodyPr>
            <a:normAutofit/>
          </a:bodyPr>
          <a:lstStyle/>
          <a:p>
            <a:r>
              <a:rPr lang="en-US" sz="4000" dirty="0"/>
              <a:t>warehouse ANALYSIS</a:t>
            </a:r>
            <a:br>
              <a:rPr lang="en-US" sz="4000" dirty="0"/>
            </a:br>
            <a:r>
              <a:rPr lang="en-US" sz="1800" dirty="0">
                <a:solidFill>
                  <a:srgbClr val="A9C7E8"/>
                </a:solidFill>
              </a:rPr>
              <a:t>Warehouse Utilization Overview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D2CCC-7616-D818-FA0D-94807693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5924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9F172D-AB89-4644-61A9-BF2ECE0B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5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530F3F-8F80-EC5D-CB95-79927A393EE5}"/>
              </a:ext>
            </a:extLst>
          </p:cNvPr>
          <p:cNvCxnSpPr>
            <a:cxnSpLocks/>
          </p:cNvCxnSpPr>
          <p:nvPr/>
        </p:nvCxnSpPr>
        <p:spPr>
          <a:xfrm>
            <a:off x="1472184" y="728381"/>
            <a:ext cx="6254496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8855470-9038-8380-C659-27A06BB98FB7}"/>
              </a:ext>
            </a:extLst>
          </p:cNvPr>
          <p:cNvSpPr/>
          <p:nvPr/>
        </p:nvSpPr>
        <p:spPr>
          <a:xfrm>
            <a:off x="6163056" y="1963729"/>
            <a:ext cx="2784270" cy="3545042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Key Insights: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Warehouse utilization ranges from about 52% to 83%.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Most warehouses fall between 55% and 70%.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Only a few warehouses are above 75% utilization.</a:t>
            </a:r>
          </a:p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Interpretation: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Most warehouses are moderately utilized, with a few nearing high usage.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671655-4D9B-D866-D348-9A63F7CB188A}"/>
              </a:ext>
            </a:extLst>
          </p:cNvPr>
          <p:cNvSpPr/>
          <p:nvPr/>
        </p:nvSpPr>
        <p:spPr>
          <a:xfrm>
            <a:off x="201169" y="5508771"/>
            <a:ext cx="8746156" cy="987153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Recommendation: </a:t>
            </a:r>
            <a:b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</a:b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Increase usage of low-utilization warehouses.</a:t>
            </a:r>
            <a:b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</a:b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Avoid overloading highly utilized warehouses.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05CDC2-EE53-FED1-86A5-983A363BCFEE}"/>
              </a:ext>
            </a:extLst>
          </p:cNvPr>
          <p:cNvSpPr/>
          <p:nvPr/>
        </p:nvSpPr>
        <p:spPr>
          <a:xfrm>
            <a:off x="201169" y="1106783"/>
            <a:ext cx="8750650" cy="856946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Requirement 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How is shipment load spread across warehouses? 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Technique: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EDA using Python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DCF6CE-42DF-B364-111C-E7A9BCE85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74" y="2087834"/>
            <a:ext cx="5879591" cy="342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22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A1941-D87F-AA3A-2BBC-DCCA2B0CD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26DE8-D7F3-DA48-0E47-0C59584C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81"/>
            <a:ext cx="9144000" cy="1326321"/>
          </a:xfrm>
        </p:spPr>
        <p:txBody>
          <a:bodyPr>
            <a:normAutofit/>
          </a:bodyPr>
          <a:lstStyle/>
          <a:p>
            <a:r>
              <a:rPr lang="en-US" sz="4000" dirty="0"/>
              <a:t>WAREHOUSE ANALYSIS</a:t>
            </a:r>
            <a:br>
              <a:rPr lang="en-US" sz="4000" dirty="0"/>
            </a:br>
            <a:r>
              <a:rPr lang="en-US" sz="1800" dirty="0">
                <a:solidFill>
                  <a:srgbClr val="A9C7E8"/>
                </a:solidFill>
              </a:rPr>
              <a:t>Impact of Warehouse on Shipment Damage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43618-15AC-5022-0251-D60BA0F58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5924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90B39-06AB-DBD3-BB7E-5CED5E30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5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F67552-2B47-BCBA-18C0-FD9A3111B2D4}"/>
              </a:ext>
            </a:extLst>
          </p:cNvPr>
          <p:cNvCxnSpPr>
            <a:cxnSpLocks/>
          </p:cNvCxnSpPr>
          <p:nvPr/>
        </p:nvCxnSpPr>
        <p:spPr>
          <a:xfrm>
            <a:off x="1453896" y="721142"/>
            <a:ext cx="6300216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953DAC8-D5E9-6C6B-E185-61719BEED8B4}"/>
              </a:ext>
            </a:extLst>
          </p:cNvPr>
          <p:cNvSpPr/>
          <p:nvPr/>
        </p:nvSpPr>
        <p:spPr>
          <a:xfrm>
            <a:off x="6181344" y="2194478"/>
            <a:ext cx="2765982" cy="3441449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Key Insights: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P-value is 0.6579 (greater than 0.05)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Damage cases are similar across warehouses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No significant relationship found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Interpretation 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Shipment damage does not depend on warehouse location.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9559A5-8420-2F56-57ED-6937081D610E}"/>
              </a:ext>
            </a:extLst>
          </p:cNvPr>
          <p:cNvSpPr/>
          <p:nvPr/>
        </p:nvSpPr>
        <p:spPr>
          <a:xfrm>
            <a:off x="201169" y="5696235"/>
            <a:ext cx="8746156" cy="799689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Recommendation: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Focus on other factors like packaging, handling, or transportation instead of warehouse location to reduce damage.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3FA1BE-753E-C3AD-F4FD-F4D580E7931B}"/>
              </a:ext>
            </a:extLst>
          </p:cNvPr>
          <p:cNvSpPr/>
          <p:nvPr/>
        </p:nvSpPr>
        <p:spPr>
          <a:xfrm>
            <a:off x="201169" y="1126298"/>
            <a:ext cx="8750650" cy="1052690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Requirement 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Does shipment damage happen more in some warehouses than others?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Technique: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Chi-Square Test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4A3FDE-9166-FB0B-BF28-A2A97C04A586}"/>
              </a:ext>
            </a:extLst>
          </p:cNvPr>
          <p:cNvSpPr/>
          <p:nvPr/>
        </p:nvSpPr>
        <p:spPr>
          <a:xfrm>
            <a:off x="201169" y="3777888"/>
            <a:ext cx="998943" cy="435469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Output :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338F0F-B81D-7BF4-57FD-7340F697D2DF}"/>
              </a:ext>
            </a:extLst>
          </p:cNvPr>
          <p:cNvSpPr/>
          <p:nvPr/>
        </p:nvSpPr>
        <p:spPr>
          <a:xfrm>
            <a:off x="201169" y="2244712"/>
            <a:ext cx="1427884" cy="435469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Hypothesis: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A88502-1CD5-00EA-74AA-DA4E5CC9AC21}"/>
              </a:ext>
            </a:extLst>
          </p:cNvPr>
          <p:cNvSpPr/>
          <p:nvPr/>
        </p:nvSpPr>
        <p:spPr>
          <a:xfrm>
            <a:off x="1629053" y="2267630"/>
            <a:ext cx="4552291" cy="1212240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H0 (Null Hypothesis): Shipment damage is NOT related to warehouse location.</a:t>
            </a:r>
          </a:p>
          <a:p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H1 (Alternative Hypothesis): Shipment damage IS related to warehouse location.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D2B808-FF6D-B033-7F9E-2217898B8426}"/>
              </a:ext>
            </a:extLst>
          </p:cNvPr>
          <p:cNvSpPr/>
          <p:nvPr/>
        </p:nvSpPr>
        <p:spPr>
          <a:xfrm>
            <a:off x="1629052" y="3764010"/>
            <a:ext cx="4552291" cy="1655495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T-Statistic: -3.5096 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P-value: 0.0005 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Conclusion: Damage does not depend on warehouse</a:t>
            </a:r>
          </a:p>
        </p:txBody>
      </p:sp>
    </p:spTree>
    <p:extLst>
      <p:ext uri="{BB962C8B-B14F-4D97-AF65-F5344CB8AC3E}">
        <p14:creationId xmlns:p14="http://schemas.microsoft.com/office/powerpoint/2010/main" val="1405491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42F1F-3E28-9F7E-2041-3D28C2BBF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44B4-F4D0-8DF4-5CB8-E98E462F2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27"/>
            <a:ext cx="9144000" cy="1326321"/>
          </a:xfrm>
        </p:spPr>
        <p:txBody>
          <a:bodyPr>
            <a:normAutofit/>
          </a:bodyPr>
          <a:lstStyle/>
          <a:p>
            <a:r>
              <a:rPr lang="en-US" sz="4000" dirty="0"/>
              <a:t>WAREHOUSE ANALYSIS</a:t>
            </a:r>
            <a:br>
              <a:rPr lang="en-US" sz="4000" dirty="0"/>
            </a:br>
            <a:r>
              <a:rPr lang="en-US" sz="1800" dirty="0">
                <a:solidFill>
                  <a:srgbClr val="A9C7E8"/>
                </a:solidFill>
              </a:rPr>
              <a:t>Warehouse Performance Dashboard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323EE9-4BB7-71C7-04D0-2FD5AE7EC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5924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59EFC-9097-C607-F3DA-B813FFFF8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5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27BB80-D88C-EA24-D1EA-1FF140B328EB}"/>
              </a:ext>
            </a:extLst>
          </p:cNvPr>
          <p:cNvCxnSpPr>
            <a:cxnSpLocks/>
          </p:cNvCxnSpPr>
          <p:nvPr/>
        </p:nvCxnSpPr>
        <p:spPr>
          <a:xfrm>
            <a:off x="1453896" y="722696"/>
            <a:ext cx="6300216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E0BC2FA-D5EC-A53C-87EB-E0DDC9F41B5A}"/>
              </a:ext>
            </a:extLst>
          </p:cNvPr>
          <p:cNvSpPr/>
          <p:nvPr/>
        </p:nvSpPr>
        <p:spPr>
          <a:xfrm>
            <a:off x="5743575" y="2155999"/>
            <a:ext cx="3203752" cy="3540235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Key Insights: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Warehouse utilization ranges from about 52% to 83%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A few warehouses handle most shipments (e.g., PLANT03)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Higher utilization shows slightly higher delivery time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Interpretation 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Warehouse workload is uneven and affects delivery performance.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31ABFE-DB41-A772-103D-4DD4E83222A3}"/>
              </a:ext>
            </a:extLst>
          </p:cNvPr>
          <p:cNvSpPr/>
          <p:nvPr/>
        </p:nvSpPr>
        <p:spPr>
          <a:xfrm>
            <a:off x="201169" y="5696235"/>
            <a:ext cx="8746156" cy="799689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Recommendation:</a:t>
            </a:r>
          </a:p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Balance shipment load across warehouses to improve efficiency and reduce delays.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421D8F-050C-6CDA-B402-06BE4DE191C8}"/>
              </a:ext>
            </a:extLst>
          </p:cNvPr>
          <p:cNvSpPr/>
          <p:nvPr/>
        </p:nvSpPr>
        <p:spPr>
          <a:xfrm>
            <a:off x="196675" y="1103309"/>
            <a:ext cx="8750650" cy="1052690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Requirement 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Which warehouses are performing better than others? </a:t>
            </a: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Technique: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Power BI Dashboard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C51335-29A6-0C26-991E-70043C3372B3}"/>
              </a:ext>
            </a:extLst>
          </p:cNvPr>
          <p:cNvSpPr/>
          <p:nvPr/>
        </p:nvSpPr>
        <p:spPr>
          <a:xfrm>
            <a:off x="196672" y="5266915"/>
            <a:ext cx="3108503" cy="433735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hlinkClick r:id="rId2" action="ppaction://hlinksldjump"/>
              </a:rPr>
              <a:t>Click to view full dashboard.</a:t>
            </a:r>
            <a:endParaRPr lang="en-US" sz="1600" b="1" dirty="0">
              <a:solidFill>
                <a:srgbClr val="FF8C42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0B569022-0F68-897F-C880-A1BC3B0C7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2" y="2155999"/>
            <a:ext cx="5618912" cy="311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36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51D9CA-5C17-DBDB-8561-68E914C7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67A5F1-C0F8-262B-B514-7D029103A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4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5" name="20260425-1354-19.1714538">
            <a:hlinkClick r:id="" action="ppaction://media"/>
            <a:extLst>
              <a:ext uri="{FF2B5EF4-FFF2-40B4-BE49-F238E27FC236}">
                <a16:creationId xmlns:a16="http://schemas.microsoft.com/office/drawing/2014/main" id="{85FBEB51-EC05-72DB-7496-40194E93E32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860425"/>
            <a:ext cx="9144000" cy="513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5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9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07D5E-A6C0-42F4-1749-6CCD35ED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9A49E-55AF-5D9F-9CE9-D128D3AC9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5"/>
            <a:ext cx="9144000" cy="1326321"/>
          </a:xfrm>
        </p:spPr>
        <p:txBody>
          <a:bodyPr>
            <a:normAutofit/>
          </a:bodyPr>
          <a:lstStyle/>
          <a:p>
            <a:r>
              <a:rPr lang="en-US" sz="4000" dirty="0"/>
              <a:t>DELIVERY ANALYSIS</a:t>
            </a:r>
            <a:br>
              <a:rPr lang="en-US" sz="4000" dirty="0"/>
            </a:br>
            <a:r>
              <a:rPr lang="en-US" sz="1800" dirty="0">
                <a:solidFill>
                  <a:srgbClr val="A9C7E8"/>
                </a:solidFill>
              </a:rPr>
              <a:t>DELIVERY TIME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7001F-AA56-F7EF-D133-7A030D93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5924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8F42D-B5C6-6FD6-654F-A7AD828A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5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4EB81A2-AE95-1951-7EB3-F900A9A69432}"/>
              </a:ext>
            </a:extLst>
          </p:cNvPr>
          <p:cNvCxnSpPr>
            <a:cxnSpLocks/>
          </p:cNvCxnSpPr>
          <p:nvPr/>
        </p:nvCxnSpPr>
        <p:spPr>
          <a:xfrm>
            <a:off x="1710085" y="726568"/>
            <a:ext cx="5724144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29C0BFB-5781-B7E7-A60A-64E36E5D8CD5}"/>
              </a:ext>
            </a:extLst>
          </p:cNvPr>
          <p:cNvSpPr/>
          <p:nvPr/>
        </p:nvSpPr>
        <p:spPr>
          <a:xfrm>
            <a:off x="6236208" y="1964408"/>
            <a:ext cx="2711118" cy="3808303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Key Insights:</a:t>
            </a:r>
          </a:p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Around 6,200 deliveries take 3 days</a:t>
            </a:r>
          </a:p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Around 2,100 deliveries take 2 days</a:t>
            </a:r>
          </a:p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Very few deliveries take more than 3 days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Some deliveries show 0 days due to data recording for ground mode</a:t>
            </a:r>
          </a:p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Interpretation: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Most deliveries are completed within 2–3 days.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3FB519-4C66-1E99-CD19-53092A07B258}"/>
              </a:ext>
            </a:extLst>
          </p:cNvPr>
          <p:cNvSpPr/>
          <p:nvPr/>
        </p:nvSpPr>
        <p:spPr>
          <a:xfrm>
            <a:off x="201169" y="5772712"/>
            <a:ext cx="8746156" cy="723212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Recommendation: 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Maintain the 2–3 day delivery standard and reduce delays beyond 3 days.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4DF295-3EDC-A835-1B87-EAB94E3BC335}"/>
              </a:ext>
            </a:extLst>
          </p:cNvPr>
          <p:cNvSpPr/>
          <p:nvPr/>
        </p:nvSpPr>
        <p:spPr>
          <a:xfrm>
            <a:off x="201170" y="1107463"/>
            <a:ext cx="8750650" cy="856946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Requirement 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How long do deliveries usually take?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Technique: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EDA using Python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CB6B0C-D3EE-ACDE-4AD4-98400A0E5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74" y="2168826"/>
            <a:ext cx="5957392" cy="339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46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401F-26EE-41C0-BDBA-38298F703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C211D6-ADB2-9B17-17CF-0B8843029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5924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7BC4E-0723-B743-B6BD-AD620BD3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5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57DE64-6080-A465-8C7D-E077513A468A}"/>
              </a:ext>
            </a:extLst>
          </p:cNvPr>
          <p:cNvSpPr/>
          <p:nvPr/>
        </p:nvSpPr>
        <p:spPr>
          <a:xfrm>
            <a:off x="6400800" y="2155240"/>
            <a:ext cx="2546526" cy="3660518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Key Insights: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1755 on-time deliveries correctly predicted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Only 4 delayed deliveries correctly predicted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Model struggles to predict delayed cases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Interpretation 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Delivery outcomes can be predicted using historical data.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777770-B7EF-07F0-697E-6A6267433558}"/>
              </a:ext>
            </a:extLst>
          </p:cNvPr>
          <p:cNvSpPr/>
          <p:nvPr/>
        </p:nvSpPr>
        <p:spPr>
          <a:xfrm>
            <a:off x="201169" y="5815758"/>
            <a:ext cx="8746156" cy="680166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Recommendation: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Use predictive models to identify risky shipments and take action before delays occur.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042C9A-F36A-25DE-ACB6-B942C0446E55}"/>
              </a:ext>
            </a:extLst>
          </p:cNvPr>
          <p:cNvSpPr/>
          <p:nvPr/>
        </p:nvSpPr>
        <p:spPr>
          <a:xfrm>
            <a:off x="201169" y="1102550"/>
            <a:ext cx="8750650" cy="1052690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Requirement 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Can delivery delays be predicted?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Technique: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Logistic Regression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FAEFD66-4AB5-B2D8-C0B4-8FE4D695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77"/>
            <a:ext cx="9144000" cy="1326321"/>
          </a:xfrm>
        </p:spPr>
        <p:txBody>
          <a:bodyPr>
            <a:normAutofit/>
          </a:bodyPr>
          <a:lstStyle/>
          <a:p>
            <a:r>
              <a:rPr lang="en-US" sz="4000" dirty="0"/>
              <a:t>DELIVERY ANALYSIS</a:t>
            </a:r>
            <a:br>
              <a:rPr lang="en-US" sz="4000" dirty="0"/>
            </a:br>
            <a:r>
              <a:rPr lang="en-US" sz="1800" dirty="0">
                <a:solidFill>
                  <a:srgbClr val="A9C7E8"/>
                </a:solidFill>
              </a:rPr>
              <a:t>Predicting Delivery Delays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247701-6482-B335-AB2D-80CBB0A94BA9}"/>
              </a:ext>
            </a:extLst>
          </p:cNvPr>
          <p:cNvCxnSpPr>
            <a:cxnSpLocks/>
          </p:cNvCxnSpPr>
          <p:nvPr/>
        </p:nvCxnSpPr>
        <p:spPr>
          <a:xfrm>
            <a:off x="1710085" y="723846"/>
            <a:ext cx="5724144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41CACA5-D0D8-B083-95D1-3672ACF8F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74" y="2270185"/>
            <a:ext cx="6089903" cy="343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40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615C5-D874-4C6F-2A53-07C167617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5F471-E214-150C-A124-ED802BE74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5924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1F6AC-AAFA-CE16-4B99-765A254C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5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CAC1DD-28AF-3DCC-4396-0F40C4F1288D}"/>
              </a:ext>
            </a:extLst>
          </p:cNvPr>
          <p:cNvSpPr/>
          <p:nvPr/>
        </p:nvSpPr>
        <p:spPr>
          <a:xfrm>
            <a:off x="5650992" y="2252158"/>
            <a:ext cx="3296334" cy="3383769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Key Insights: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P-value is 0.0005 (less than 0.05)  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There is a clear difference in delivery times  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Interpretation: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Delayed shipments take more time than normal deliveries 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Delayed shipments take much longer than normal deliveries, which affects overall performance.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A942FF-CEFB-DBB6-5490-D063A404B421}"/>
              </a:ext>
            </a:extLst>
          </p:cNvPr>
          <p:cNvSpPr/>
          <p:nvPr/>
        </p:nvSpPr>
        <p:spPr>
          <a:xfrm>
            <a:off x="201169" y="5731702"/>
            <a:ext cx="8746156" cy="764221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Recommendation 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Identify and fix the causes of delays to reduce delivery time and improve efficiency.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2E01D7-4C2A-B128-407D-D6908811951C}"/>
              </a:ext>
            </a:extLst>
          </p:cNvPr>
          <p:cNvSpPr/>
          <p:nvPr/>
        </p:nvSpPr>
        <p:spPr>
          <a:xfrm>
            <a:off x="201169" y="1126298"/>
            <a:ext cx="8750650" cy="1052690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Requirement 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How much longer do delayed shipments take compared to normal deliveries?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Technique: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Independent T-Test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3AFBE2C-0454-4380-D7F9-A2B61F36F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520" y="-4281"/>
            <a:ext cx="7765321" cy="1326321"/>
          </a:xfrm>
        </p:spPr>
        <p:txBody>
          <a:bodyPr>
            <a:normAutofit/>
          </a:bodyPr>
          <a:lstStyle/>
          <a:p>
            <a:r>
              <a:rPr lang="en-US" sz="4000" dirty="0"/>
              <a:t>DELIVERY ANALYSIS</a:t>
            </a:r>
            <a:br>
              <a:rPr lang="en-US" sz="4000" dirty="0"/>
            </a:br>
            <a:r>
              <a:rPr lang="en-US" sz="1800" dirty="0">
                <a:solidFill>
                  <a:srgbClr val="A9C7E8"/>
                </a:solidFill>
              </a:rPr>
              <a:t>COMPARISON OF DELIVERY TIME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0B4D9D-7B76-892F-DB91-2B28751E1CCB}"/>
              </a:ext>
            </a:extLst>
          </p:cNvPr>
          <p:cNvCxnSpPr>
            <a:cxnSpLocks/>
          </p:cNvCxnSpPr>
          <p:nvPr/>
        </p:nvCxnSpPr>
        <p:spPr>
          <a:xfrm>
            <a:off x="1819813" y="721142"/>
            <a:ext cx="5724144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0B8688A-2E41-2EC6-9F02-E6221598B6C7}"/>
              </a:ext>
            </a:extLst>
          </p:cNvPr>
          <p:cNvSpPr/>
          <p:nvPr/>
        </p:nvSpPr>
        <p:spPr>
          <a:xfrm>
            <a:off x="201169" y="3971759"/>
            <a:ext cx="998943" cy="435469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Output :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C708C0-F6F6-FE13-BD1C-20D0CB2F721B}"/>
              </a:ext>
            </a:extLst>
          </p:cNvPr>
          <p:cNvSpPr/>
          <p:nvPr/>
        </p:nvSpPr>
        <p:spPr>
          <a:xfrm>
            <a:off x="201169" y="2200914"/>
            <a:ext cx="1427884" cy="435469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Hypothesis: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B13298-126D-BC1A-FCFC-B3711CA08ED4}"/>
              </a:ext>
            </a:extLst>
          </p:cNvPr>
          <p:cNvSpPr/>
          <p:nvPr/>
        </p:nvSpPr>
        <p:spPr>
          <a:xfrm>
            <a:off x="1454723" y="2203621"/>
            <a:ext cx="4196269" cy="1677521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H0 (Null Hypothesis): There is NO difference in delivery time between normal and delayed shipments.</a:t>
            </a:r>
          </a:p>
          <a:p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H1 (Alternative Hypothesis): Delayed shipments take longer than normal deliveries.</a:t>
            </a:r>
            <a:endParaRPr lang="en-US" sz="14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A6BBB-7C0E-038A-591C-2E10D6B3781C}"/>
              </a:ext>
            </a:extLst>
          </p:cNvPr>
          <p:cNvSpPr/>
          <p:nvPr/>
        </p:nvSpPr>
        <p:spPr>
          <a:xfrm>
            <a:off x="1454723" y="3965609"/>
            <a:ext cx="4196269" cy="1655495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T-Statistic: -3.5096 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P-value: 0.0005 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Conclusion: Delayed shipments take significantly longer time than normal deliveries.</a:t>
            </a:r>
          </a:p>
        </p:txBody>
      </p:sp>
    </p:spTree>
    <p:extLst>
      <p:ext uri="{BB962C8B-B14F-4D97-AF65-F5344CB8AC3E}">
        <p14:creationId xmlns:p14="http://schemas.microsoft.com/office/powerpoint/2010/main" val="827046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7223A-ACEC-1E38-AD51-DDD27F941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E71F4-CB9E-8638-0FAC-5DC87F6DC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5924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49995-D538-5923-C5E3-DC113BA8B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5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7B0F84-B9A4-3A2A-B2A4-B101860785E3}"/>
              </a:ext>
            </a:extLst>
          </p:cNvPr>
          <p:cNvSpPr/>
          <p:nvPr/>
        </p:nvSpPr>
        <p:spPr>
          <a:xfrm>
            <a:off x="6556248" y="2165969"/>
            <a:ext cx="2391078" cy="3674667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Key Insights:</a:t>
            </a:r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97.7% deliveries are on time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Only 2.3% deliveries are delayed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• Damage rate is low at 2.71%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Interpretation 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Delivery performance is highly reliable.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66313D-F446-A10C-8446-F03575B77C67}"/>
              </a:ext>
            </a:extLst>
          </p:cNvPr>
          <p:cNvSpPr/>
          <p:nvPr/>
        </p:nvSpPr>
        <p:spPr>
          <a:xfrm>
            <a:off x="201169" y="5840637"/>
            <a:ext cx="8746156" cy="655286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Recommendation:</a:t>
            </a:r>
          </a:p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Maintain current performance and focus on reducing the small number of delays.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CE337A-ADBB-C698-F430-3384B3EE7E92}"/>
              </a:ext>
            </a:extLst>
          </p:cNvPr>
          <p:cNvSpPr/>
          <p:nvPr/>
        </p:nvSpPr>
        <p:spPr>
          <a:xfrm>
            <a:off x="201169" y="1113279"/>
            <a:ext cx="8750650" cy="1052690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Business Requirement : 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How reliable is delivery performance?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Technique:</a:t>
            </a: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EDA + KPI Analysis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889EE6C-6879-A9AF-6BE9-F72439DAF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10"/>
            <a:ext cx="9144000" cy="1326321"/>
          </a:xfrm>
        </p:spPr>
        <p:txBody>
          <a:bodyPr>
            <a:normAutofit/>
          </a:bodyPr>
          <a:lstStyle/>
          <a:p>
            <a:r>
              <a:rPr lang="en-US" sz="4000" dirty="0"/>
              <a:t>DELIVERY ANALYSIS</a:t>
            </a:r>
            <a:br>
              <a:rPr lang="en-US" sz="4000" dirty="0"/>
            </a:br>
            <a:r>
              <a:rPr lang="en-US" sz="1800" dirty="0">
                <a:solidFill>
                  <a:srgbClr val="A9C7E8"/>
                </a:solidFill>
              </a:rPr>
              <a:t>Delivery Performance Reliability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80576B-AD09-B5C1-7F38-877ACCADD37F}"/>
              </a:ext>
            </a:extLst>
          </p:cNvPr>
          <p:cNvCxnSpPr>
            <a:cxnSpLocks/>
          </p:cNvCxnSpPr>
          <p:nvPr/>
        </p:nvCxnSpPr>
        <p:spPr>
          <a:xfrm>
            <a:off x="1700941" y="734533"/>
            <a:ext cx="5724144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7474DB2-5F46-45EF-978A-882930BEE941}"/>
              </a:ext>
            </a:extLst>
          </p:cNvPr>
          <p:cNvSpPr/>
          <p:nvPr/>
        </p:nvSpPr>
        <p:spPr>
          <a:xfrm>
            <a:off x="196672" y="5406902"/>
            <a:ext cx="3108503" cy="433735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hlinkClick r:id="rId2" action="ppaction://hlinksldjump"/>
              </a:rPr>
              <a:t>Click to view full dashboard.</a:t>
            </a:r>
            <a:endParaRPr lang="en-US" sz="1600" b="1" dirty="0">
              <a:solidFill>
                <a:srgbClr val="FF8C42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C55EC63F-1017-696C-0E7B-C3610A3B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72" y="2165969"/>
            <a:ext cx="6359576" cy="324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63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E00ACC-1BC5-4F5D-9529-67DB94C6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6051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21365A-F7ED-FA17-5D3B-FAC5AA02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6052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pic>
        <p:nvPicPr>
          <p:cNvPr id="5" name="20260425-1401-47.4740569">
            <a:hlinkClick r:id="" action="ppaction://media"/>
            <a:extLst>
              <a:ext uri="{FF2B5EF4-FFF2-40B4-BE49-F238E27FC236}">
                <a16:creationId xmlns:a16="http://schemas.microsoft.com/office/drawing/2014/main" id="{10F0A5E0-187B-FB98-C3F2-D90732D6D3C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866775"/>
            <a:ext cx="914400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6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045E0-AEFE-DCA6-FAA3-51457C77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3B8B7-2819-D692-8236-1FE0A734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5924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4EB200-22D5-2D4A-FA66-3902BA3D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5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841FFA-80A1-EC6A-82E3-39DD4B54AC2D}"/>
              </a:ext>
            </a:extLst>
          </p:cNvPr>
          <p:cNvSpPr/>
          <p:nvPr/>
        </p:nvSpPr>
        <p:spPr>
          <a:xfrm>
            <a:off x="187531" y="1280160"/>
            <a:ext cx="8750650" cy="4297680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Shipment Analysis:</a:t>
            </a:r>
          </a:p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Shipment cost increases with weight, but a few high-cost shipments (up to $31,050) drive most of the total cost.</a:t>
            </a:r>
          </a:p>
          <a:p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  <a:p>
            <a:r>
              <a:rPr lang="en-US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Warehouse Analysis:</a:t>
            </a:r>
          </a:p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Warehouse utilization ranges from 52% to 83%, with workload unevenly distributed. One warehouse handles around 8,000 shipments, while others handle fewer than 500.</a:t>
            </a:r>
          </a:p>
          <a:p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  <a:p>
            <a:r>
              <a:rPr lang="en-US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Delivery Analysis:</a:t>
            </a:r>
          </a:p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Most deliveries are completed within 2–3 days (around 6,200 shipments in 3 days). On-time delivery rate is 97.7%, with only 2.3% delays.</a:t>
            </a:r>
          </a:p>
          <a:p>
            <a:endParaRPr lang="en-US" sz="1600" b="1" dirty="0">
              <a:solidFill>
                <a:srgbClr val="A9C7E8"/>
              </a:solidFill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  <a:p>
            <a:r>
              <a:rPr lang="en-US" b="1" dirty="0">
                <a:solidFill>
                  <a:srgbClr val="FF8C42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Statistical &amp; ML Insights:</a:t>
            </a:r>
          </a:p>
          <a:p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Shipment damage is not related to warehouse location (p-value = 0.6579). Delayed shipments take longer than normal deliveries. Predictive models can identify most shipments correctly, but delayed cases are harder to detect.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F6E9633-4E18-6D63-5C1E-5FCA5FBD2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81"/>
            <a:ext cx="9144000" cy="1326321"/>
          </a:xfrm>
        </p:spPr>
        <p:txBody>
          <a:bodyPr>
            <a:normAutofit/>
          </a:bodyPr>
          <a:lstStyle/>
          <a:p>
            <a:r>
              <a:rPr lang="en-US" sz="4000" dirty="0"/>
              <a:t>SUMMARY</a:t>
            </a:r>
            <a:endParaRPr lang="en-US" sz="1800" dirty="0">
              <a:solidFill>
                <a:srgbClr val="A9C7E8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A0A898-BED0-E76E-29B6-CBB063C2C502}"/>
              </a:ext>
            </a:extLst>
          </p:cNvPr>
          <p:cNvCxnSpPr>
            <a:cxnSpLocks/>
          </p:cNvCxnSpPr>
          <p:nvPr/>
        </p:nvCxnSpPr>
        <p:spPr>
          <a:xfrm>
            <a:off x="3145536" y="840014"/>
            <a:ext cx="2834640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74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64177-B9FA-917A-8631-06630222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C8C0D-44CF-7AC1-24D9-3C0F9A22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5924"/>
            <a:ext cx="5004649" cy="365125"/>
          </a:xfrm>
        </p:spPr>
        <p:txBody>
          <a:bodyPr/>
          <a:lstStyle/>
          <a:p>
            <a:r>
              <a:rPr lang="en-US" dirty="0">
                <a:solidFill>
                  <a:srgbClr val="A9C7E8"/>
                </a:solidFill>
              </a:rPr>
              <a:t>Capstone Project |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A44386-E761-5A67-11B7-397BA70E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841" y="6492875"/>
            <a:ext cx="56515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9DF685-00E0-C99B-5535-CE2F29ED08B2}"/>
              </a:ext>
            </a:extLst>
          </p:cNvPr>
          <p:cNvSpPr/>
          <p:nvPr/>
        </p:nvSpPr>
        <p:spPr>
          <a:xfrm>
            <a:off x="196675" y="964472"/>
            <a:ext cx="8750650" cy="2647403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1. Shipment cost is mainly influenced by weight, but a small number of shipments contribute most of the total cost.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2. Warehouse workload is uneven, with a few warehouses handling most shipments.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3. Delivery performance is strong, with most deliveries completed on time within 2–3 days.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4. Shipment damage is not linked to warehouse location, suggesting other factors affect damage.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5. Delivery delays can be predicted using past data, but delayed shipments are harder to identify.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1BCC43D-1926-63E6-BBBE-F8B356DDE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81"/>
            <a:ext cx="9144000" cy="1326321"/>
          </a:xfrm>
        </p:spPr>
        <p:txBody>
          <a:bodyPr>
            <a:normAutofit/>
          </a:bodyPr>
          <a:lstStyle/>
          <a:p>
            <a:r>
              <a:rPr lang="en-US" sz="4000" dirty="0"/>
              <a:t>CONCLUSION</a:t>
            </a:r>
            <a:endParaRPr lang="en-US" sz="1800" dirty="0">
              <a:solidFill>
                <a:srgbClr val="A9C7E8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CD4DD2-D09D-1CB3-1894-A2F2E2FE5064}"/>
              </a:ext>
            </a:extLst>
          </p:cNvPr>
          <p:cNvCxnSpPr>
            <a:cxnSpLocks/>
          </p:cNvCxnSpPr>
          <p:nvPr/>
        </p:nvCxnSpPr>
        <p:spPr>
          <a:xfrm>
            <a:off x="2852928" y="840014"/>
            <a:ext cx="3474720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18610F4-5B39-7841-78FD-A2ECC6207845}"/>
              </a:ext>
            </a:extLst>
          </p:cNvPr>
          <p:cNvSpPr/>
          <p:nvPr/>
        </p:nvSpPr>
        <p:spPr>
          <a:xfrm>
            <a:off x="201169" y="4311687"/>
            <a:ext cx="8750650" cy="1878802"/>
          </a:xfrm>
          <a:prstGeom prst="rect">
            <a:avLst/>
          </a:prstGeom>
          <a:solidFill>
            <a:srgbClr val="1F3A5F">
              <a:alpha val="50196"/>
            </a:srgbClr>
          </a:solidFill>
          <a:effectLst>
            <a:outerShdw blurRad="190500" dist="50800" dir="5400000" algn="ctr" rotWithShape="0">
              <a:srgbClr val="000000">
                <a:alpha val="40000"/>
              </a:srgb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1. Review high-cost shipments to optimize pricing, routes, and handling processes.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2. Distribute workload more evenly across warehouses to improve efficiency.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3. Maintain current delivery performance and reduce delays beyond 3 days.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4. Focus on packaging, handling, and transportation to reduce shipment damage.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A9C7E8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5. Use predictive models to identify possible delays early and take action.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5AF4B26-08C8-FE08-92A2-8FF2CB3A3ADE}"/>
              </a:ext>
            </a:extLst>
          </p:cNvPr>
          <p:cNvSpPr txBox="1">
            <a:spLocks/>
          </p:cNvSpPr>
          <p:nvPr/>
        </p:nvSpPr>
        <p:spPr>
          <a:xfrm>
            <a:off x="0" y="3348519"/>
            <a:ext cx="9144000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RECOMMENDATION</a:t>
            </a:r>
            <a:endParaRPr lang="en-US" sz="1800" dirty="0">
              <a:solidFill>
                <a:srgbClr val="A9C7E8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24BDE5-C04B-1CA1-74C3-A96364D2EC91}"/>
              </a:ext>
            </a:extLst>
          </p:cNvPr>
          <p:cNvCxnSpPr>
            <a:cxnSpLocks/>
          </p:cNvCxnSpPr>
          <p:nvPr/>
        </p:nvCxnSpPr>
        <p:spPr>
          <a:xfrm>
            <a:off x="1856232" y="4192814"/>
            <a:ext cx="5422392" cy="0"/>
          </a:xfrm>
          <a:prstGeom prst="line">
            <a:avLst/>
          </a:prstGeom>
          <a:ln w="28575">
            <a:solidFill>
              <a:srgbClr val="FF8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8004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final_capstone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4FC3F7"/>
      </a:accent1>
      <a:accent2>
        <a:srgbClr val="FF8C42"/>
      </a:accent2>
      <a:accent3>
        <a:srgbClr val="D8D8D8"/>
      </a:accent3>
      <a:accent4>
        <a:srgbClr val="002060"/>
      </a:accent4>
      <a:accent5>
        <a:srgbClr val="0070C0"/>
      </a:accent5>
      <a:accent6>
        <a:srgbClr val="BFBFBF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1125</TotalTime>
  <Words>1647</Words>
  <Application>Microsoft Office PowerPoint</Application>
  <PresentationFormat>On-screen Show (4:3)</PresentationFormat>
  <Paragraphs>219</Paragraphs>
  <Slides>19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Bookman Old Style</vt:lpstr>
      <vt:lpstr>Rockwell</vt:lpstr>
      <vt:lpstr>Damask</vt:lpstr>
      <vt:lpstr>PowerPoint Presentation</vt:lpstr>
      <vt:lpstr>PowerPoint Presentation</vt:lpstr>
      <vt:lpstr>BUSINESS OBJECTIVES </vt:lpstr>
      <vt:lpstr>SHIPMENT ANALYSIS SHIPMENT WEIGHT ANALYSIS</vt:lpstr>
      <vt:lpstr>SHIPMENT ANALYSIS Top 10 Shipments</vt:lpstr>
      <vt:lpstr>SHIPMENT ANALYSIS FACTORS AFFECTING SHIPMENT COST</vt:lpstr>
      <vt:lpstr>SHIPMENT ANALYSIS Shipment Performance Dashboard</vt:lpstr>
      <vt:lpstr>PowerPoint Presentation</vt:lpstr>
      <vt:lpstr>warehouse ANALYSIS Warehouse Utilization Overview</vt:lpstr>
      <vt:lpstr>WAREHOUSE ANALYSIS Impact of Warehouse on Shipment Damage</vt:lpstr>
      <vt:lpstr>WAREHOUSE ANALYSIS Warehouse Performance Dashboard</vt:lpstr>
      <vt:lpstr>PowerPoint Presentation</vt:lpstr>
      <vt:lpstr>DELIVERY ANALYSIS DELIVERY TIME ANALYSIS</vt:lpstr>
      <vt:lpstr>DELIVERY ANALYSIS Predicting Delivery Delays</vt:lpstr>
      <vt:lpstr>DELIVERY ANALYSIS COMPARISON OF DELIVERY TIME</vt:lpstr>
      <vt:lpstr>DELIVERY ANALYSIS Delivery Performance Reliability</vt:lpstr>
      <vt:lpstr>PowerPoint Presentation</vt:lpstr>
      <vt:lpstr>SUMMARY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Athar Ansari</cp:lastModifiedBy>
  <cp:revision>45</cp:revision>
  <dcterms:created xsi:type="dcterms:W3CDTF">2013-01-27T09:14:16Z</dcterms:created>
  <dcterms:modified xsi:type="dcterms:W3CDTF">2026-04-25T14:02:23Z</dcterms:modified>
  <cp:category/>
</cp:coreProperties>
</file>